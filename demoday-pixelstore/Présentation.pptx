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4EEEB7-B280-42D1-B337-5FADD51D1949}">
  <a:tblStyle styleId="{044EEEB7-B280-42D1-B337-5FADD51D19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144" y="6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d7cfba33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ed7cfba33c_2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INTRODUCTION (commune, ~30s). Matthieu ouvre. Contexte en une phrase : PixelStore, PME parisienne de 35 employés vendant des smartphones haut de gamme, qui migre vers AWS. Objectif : infra cloud complète, sécurisée, automatisée via Terraform. Annoncer le plan : Jimmy présente l'architecture, la sécurité et l'IaC, Matthieu l'application, les coûts et le pentest, Dorian l'analyse GRC. Durée totale visée 12 min.</a:t>
            </a:r>
            <a:endParaRPr/>
          </a:p>
        </p:txBody>
      </p:sp>
      <p:sp>
        <p:nvSpPr>
          <p:cNvPr id="55" name="Google Shape;55;g3ed7cfba33c_2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d7cfba33c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3ed7cfba33c_2_1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Matthieu (~40s). Poser le contexte metier : 35 employés, smartphones haut de gamme, exigences de dispo/sécurité/evolutivite. Insister sur les 4 besoins (colonne gauche). Puis lacher les chiffres cles a droite : 71 ressources, 17 modules, 2 AZ, 1 commande. Ces chiffres reviennent tout au long de la soutenance.</a:t>
            </a:r>
            <a:endParaRPr/>
          </a:p>
        </p:txBody>
      </p:sp>
      <p:sp>
        <p:nvSpPr>
          <p:cNvPr id="69" name="Google Shape;69;g3ed7cfba33c_2_1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d7cfba33c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ed7cfba33c_2_5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Matthieu ou Jimmy (~30s), juste apres le contexte. Montrer que le projet n'est pas que de l infra : c'est un vrai site fonctionnel. Catalogue de 9 smartphones (Apple, Samsung, Google), de 799 a 1899 EUR, page de connexion, panier. Charte sombre et dorée. Le site est desormais servi en HTTPS via Cloudflare (cadenas dans la barre d URL). Transition possible : derrière cette vitrine, voici l infrastructure qui la fait tourner (slide suivante).</a:t>
            </a:r>
            <a:endParaRPr/>
          </a:p>
        </p:txBody>
      </p:sp>
      <p:sp>
        <p:nvSpPr>
          <p:cNvPr id="106" name="Google Shape;106;g3ed7cfba33c_2_5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d7cfba33c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3ed7cfba33c_2_6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Jimmy (~50s). C'est le pivot visuel. Suivre le flux de haut en bas : Internet -&gt; WAF (3 regles) -&gt; ALB -&gt; EC2 Flask en subnet public -&gt; RDS MySQL en subnet prive, repliquee en Multi-AZ. Mentionner le NAT Gateway pour la sortie des subnets prives, S3 pour les assets, Secrets Manager pour les credentials. En bas : la couche transverse de surveillance et sécurité (CloudWatch, CloudTrail, GuardDuty, IAM, WAF). Tout est en region Paris -&gt; RGPD.</a:t>
            </a:r>
            <a:endParaRPr/>
          </a:p>
        </p:txBody>
      </p:sp>
      <p:sp>
        <p:nvSpPr>
          <p:cNvPr id="118" name="Google Shape;118;g3ed7cfba33c_2_6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d7cfba33c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3ed7cfba33c_2_7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Jimmy (~1min30, cœur de sa partie). Expliquer le principe : si une couche tombe, les suivantes protegent. Dérouler les 6 couches. Points a marteler : SG en cascade stricte (rien n est accessible directement depuis Internet) ; NACL stateless donc ports éphémères explicites dans les deux sens ; IAM least privilège + SSM, donc port SSH 22 ferme ; secrets jamais en clair. C'est l argument central du projet côté sécurité.</a:t>
            </a:r>
            <a:endParaRPr/>
          </a:p>
        </p:txBody>
      </p:sp>
      <p:sp>
        <p:nvSpPr>
          <p:cNvPr id="128" name="Google Shape;128;g3ed7cfba33c_2_7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d7cfba33c_2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3ed7cfba33c_2_11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Jimmy (~40s), transition vers Dorian. Detailler les 3 regles WAF. Puis le message cle (encadre blanc a droite) : la defense en profondeur fonctionne PARCE QUE le code est deja securise (requetes parametrees). Cette phrase est a sortir telle quelle. Enchainer : maintenant Dorian explique comment tout ca est construit et deploye.</a:t>
            </a:r>
            <a:endParaRPr/>
          </a:p>
        </p:txBody>
      </p:sp>
      <p:sp>
        <p:nvSpPr>
          <p:cNvPr id="167" name="Google Shape;167;g3ed7cfba33c_2_11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d7cfba33c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ed7cfba33c_2_13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Jimmy (~1min). Enchaine apres sa partie securite. Expliquer ce qu est l IaC (colonne gauche : declaratif, idempotent, versionne, reproductible). Insister sur le backend distant S3 + DynamoDB qui permet le travail a trois sans conflit de state. Puis le terminal : UNE commande cree 71 ressources et rend le site opérationnel en 10-15 min. C est l effet wow a vendre. Passe ensuite la main a Matthieu.</a:t>
            </a:r>
            <a:endParaRPr/>
          </a:p>
        </p:txBody>
      </p:sp>
      <p:sp>
        <p:nvSpPr>
          <p:cNvPr id="188" name="Google Shape;188;g3ed7cfba33c_2_13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d7cfba33c_2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ed7cfba33c_2_15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Matthieu (~1min). Presenter l app Flask (4 pages, bcrypt, pas de secret en clair). Puis la haute dispo : Auto Scaling 1-&gt;2 a 60% CPU, RDS Multi-AZ avec bascule 1-2 min. Finir sur la reprise : sauvegarde renforcee (snapshots toutes les 12h + binlogs toutes les 15 min) qui ramene le RPO de 24h a environ 15 min. Terraform EST l outil de DR, le code recree les 71 ressources. Enchaine sur les couts (slide suivante).</a:t>
            </a:r>
            <a:endParaRPr/>
          </a:p>
        </p:txBody>
      </p:sp>
      <p:sp>
        <p:nvSpPr>
          <p:cNvPr id="215" name="Google Shape;215;g3ed7cfba33c_2_15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d7cfba33c_2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ed7cfba33c_2_184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Matthieu (~50s). Maitriser les chiffres : 150 EUR/mois, 1 800 EUR/an On-Demand, ~900 EUR optimise via Savings Plans. Le punch : plus de 18 000 EUR d economie la 1re annee face a l on-premise (CAPEX 11 600 + OPEX). Avantages : 0 investissement initial, HA incluse, RGPD. Si question FinOps : NAT Gateway = plus gros poste apres RDS, optimisable via VPC endpoints.</a:t>
            </a:r>
            <a:endParaRPr/>
          </a:p>
        </p:txBody>
      </p:sp>
      <p:sp>
        <p:nvSpPr>
          <p:cNvPr id="244" name="Google Shape;244;g3ed7cfba33c_2_184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d7cfba33c_2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ed7cfba33c_2_205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Matthieu (~50s). Ouvrir la partie pentest. Annoncer la posture : on a teste NOTRE propre infra, on documente autant ce qui resiste que ce qui peche - c est la marque d un pentest mature. Derouler la methodo (gauche). Puis insister sur ce qui resiste (droite) : SQLi neutralisee, WAF efficace. C est volontairement positif AVANT d annoncer les constats sur la slide suivante. Astuce d accroche : sur le screenshot de connexion (slides precedentes), montrer la mention 'Non securise' dans la barre d URL - c est exactement le constat F1.</a:t>
            </a:r>
            <a:endParaRPr/>
          </a:p>
        </p:txBody>
      </p:sp>
      <p:sp>
        <p:nvSpPr>
          <p:cNvPr id="266" name="Google Shape;266;g3ed7cfba33c_2_205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d7cfba33c_2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3ed7cfba33c_2_221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Matthieu (~50s). Bonne nouvelle a annoncer : F1 (TLS), le constat le plus grave, est desormais CORRIGE via Cloudflare - le site est en HTTPS, le cadenas est dans la barre d URL. Les autres constats sont configuration/durcissement, pas des failles de conception. F8 reste le seul point a finaliser. Montrer la priorisation a droite : F1 barre, le reste ordonne. C est l illustration concrete d une remediation reussie depuis le pentest initial.</a:t>
            </a:r>
            <a:endParaRPr/>
          </a:p>
        </p:txBody>
      </p:sp>
      <p:sp>
        <p:nvSpPr>
          <p:cNvPr id="283" name="Google Shape;283;g3ed7cfba33c_2_221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d7cfba33c_2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3ed7cfba33c_2_23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Matthieu (~40s). Cadrer clairement : ce sont des axes pour passer du labo a la prod, PAS des oublis. Le plus important : distinguer ce qui est deploye de ce qui est recommande. TLS et serveur de prod repondent directement au pentest. Le Samba AD / Managed Microsoft AD est le livrable d integration des identites. CI/CD et RPO completent la maturite. Enchainer vers Dorian qui chiffre tout ca dans l analyse GRC.</a:t>
            </a:r>
            <a:endParaRPr/>
          </a:p>
        </p:txBody>
      </p:sp>
      <p:sp>
        <p:nvSpPr>
          <p:cNvPr id="296" name="Google Shape;296;g3ed7cfba33c_2_23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d7cfba33c_2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g3ed7cfba33c_2_271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Dorian (~50s). Presenter la demarche GRC : on a confronte le projet a 3 referentiels complementaires - ISO 27001 (conformite), NIST CSF 2.0 (maturite), FAIR (chiffrage financier du risque). Le tableau de bord resume les scores. Message : la base TECHNIQUE est solide, mais la gouvernance organisationnelle et les procedures de reponse/reprise sont quasi inexistantes - normal dans un contexte projet, mais c est ce qu il faudrait formaliser en entreprise.</a:t>
            </a:r>
            <a:endParaRPr/>
          </a:p>
        </p:txBody>
      </p:sp>
      <p:sp>
        <p:nvSpPr>
          <p:cNvPr id="335" name="Google Shape;335;g3ed7cfba33c_2_271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d7cfba33c_2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g3ed7cfba33c_2_29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Dorian (~1min). L angle qui parle a un jury : on traduit le risque technique en euros, et on montre l effet de la remediation. Avant : ~192 k EUR/an d exposition, dont 145 k EUR sur le seul HTTP manquant (F1). Apres correction de F1 via Cloudflare : l exposition residuelle tombe a ~47 k EUR/an. C est l argument massue - une correction qui supprime 145 k EUR/an d exposition. Il reste F8 (SECRET_KEY) et le risque RGPD a traiter, c est le sens du plan de la slide suivante.</a:t>
            </a:r>
            <a:endParaRPr/>
          </a:p>
        </p:txBody>
      </p:sp>
      <p:sp>
        <p:nvSpPr>
          <p:cNvPr id="361" name="Google Shape;361;g3ed7cfba33c_2_29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d7cfba33c_2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g3ed7cfba33c_2_315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Dorian (~50s). Cloturer la partie GRC sur du concret et actionnable. 3 niveaux de priorite. P1 (rouge) = moins d une semaine, gros impact : TLS, SECRET_KEY, en-tetes, cookies - ce sont les corrections du pentest. P2 = gouvernance minimale (procedure incident, registre RGPD, NDA). P3 = maturite ISO sur 1-6 mois. Message de cloture : on ne se contente pas de lister les failles, on livre une feuille de route chiffree et prioritaire. Repasser ensuite la main pour la conclusion.</a:t>
            </a:r>
            <a:endParaRPr/>
          </a:p>
        </p:txBody>
      </p:sp>
      <p:sp>
        <p:nvSpPr>
          <p:cNvPr id="381" name="Google Shape;381;g3ed7cfba33c_2_315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d7cfba33c_2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g3ed7cfba33c_2_341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 (commune, ~30s). Reprendre les 4 messages cles. Finir sur la phrase de posture : un projet pedagogique avec des failles identifiees, comprises, chiffrees et priorisees vaut mieux qu un projet pretendument parfait. Ouvrir les questions. Se repartir les questions selon les parties traitees : Jimmy sur l architecture et la securite, Matthieu sur les couts et le pentest, Dorian sur l IaC, l application et le GRC.</a:t>
            </a:r>
            <a:endParaRPr/>
          </a:p>
        </p:txBody>
      </p:sp>
      <p:sp>
        <p:nvSpPr>
          <p:cNvPr id="408" name="Google Shape;408;g3ed7cfba33c_2_341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7338060" y="-960120"/>
            <a:ext cx="3086100" cy="3086100"/>
          </a:xfrm>
          <a:prstGeom prst="ellipse">
            <a:avLst/>
          </a:prstGeom>
          <a:solidFill>
            <a:srgbClr val="2E75B6">
              <a:alpha val="30196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-1097280" y="3566160"/>
            <a:ext cx="2880360" cy="2880360"/>
          </a:xfrm>
          <a:prstGeom prst="ellipse">
            <a:avLst/>
          </a:prstGeom>
          <a:solidFill>
            <a:srgbClr val="2E75B6">
              <a:alpha val="21960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617220" y="1268730"/>
            <a:ext cx="7886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Cambria"/>
              <a:buNone/>
            </a:pPr>
            <a:r>
              <a:rPr lang="fr" sz="41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PIXELSTORE</a:t>
            </a: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630936" y="2023110"/>
            <a:ext cx="78867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lang="fr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Infrastructure cloud AWS sécurisée et automatisée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651510" y="2571750"/>
            <a:ext cx="1783080" cy="3429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651510" y="2983230"/>
            <a:ext cx="24688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fr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Jimmy Barbier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3257550" y="2983230"/>
            <a:ext cx="24688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fr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Dorian Poncelet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5863590" y="2983230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fr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Matthieu Broquard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651510" y="4594860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Calibri"/>
              <a:buNone/>
            </a:pPr>
            <a:r>
              <a:rPr lang="fr" sz="10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Jedha Bootcamp - Cybersecurite Fullstack - Juin 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411480" y="288036"/>
            <a:ext cx="5692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Font typeface="Cambria"/>
              <a:buNone/>
            </a:pPr>
            <a:r>
              <a:rPr lang="fr" sz="23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Contexte &amp; objectifs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425196" y="76809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PME parisienne - 35 employés - e-commerce smartphones haut de gamme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411480" y="1200150"/>
            <a:ext cx="4046220" cy="788670"/>
          </a:xfrm>
          <a:prstGeom prst="roundRect">
            <a:avLst>
              <a:gd name="adj" fmla="val 6957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582930" y="1385316"/>
            <a:ext cx="425196" cy="4251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48818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/>
          <p:nvPr/>
        </p:nvSpPr>
        <p:spPr>
          <a:xfrm>
            <a:off x="1131570" y="1296162"/>
            <a:ext cx="32232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mbria"/>
              <a:buNone/>
            </a:pPr>
            <a:r>
              <a:rPr lang="fr" sz="12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Disponibilité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1131570" y="1556766"/>
            <a:ext cx="32232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Service continu même en cas de panne d'une zone AWS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11480" y="2105406"/>
            <a:ext cx="4046220" cy="788670"/>
          </a:xfrm>
          <a:prstGeom prst="roundRect">
            <a:avLst>
              <a:gd name="adj" fmla="val 6957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582930" y="2290572"/>
            <a:ext cx="425196" cy="4251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239344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/>
          <p:nvPr/>
        </p:nvSpPr>
        <p:spPr>
          <a:xfrm>
            <a:off x="1131570" y="2201418"/>
            <a:ext cx="32232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mbria"/>
              <a:buNone/>
            </a:pPr>
            <a:r>
              <a:rPr lang="fr" sz="12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Sécurité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1131570" y="2462022"/>
            <a:ext cx="32232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Données clients protégées, défense en profondeur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411480" y="3010662"/>
            <a:ext cx="4046220" cy="788670"/>
          </a:xfrm>
          <a:prstGeom prst="roundRect">
            <a:avLst>
              <a:gd name="adj" fmla="val 6957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582930" y="3195828"/>
            <a:ext cx="425196" cy="4251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329869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1131570" y="3106674"/>
            <a:ext cx="32232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mbria"/>
              <a:buNone/>
            </a:pPr>
            <a:r>
              <a:rPr lang="fr" sz="12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Évolutivité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1131570" y="3367278"/>
            <a:ext cx="32232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Absorber les pics de trafic sans intervention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11480" y="3915918"/>
            <a:ext cx="4046220" cy="788670"/>
          </a:xfrm>
          <a:prstGeom prst="roundRect">
            <a:avLst>
              <a:gd name="adj" fmla="val 6957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582930" y="4101084"/>
            <a:ext cx="425196" cy="4251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00" y="420395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1131570" y="4011930"/>
            <a:ext cx="32232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mbria"/>
              <a:buNone/>
            </a:pPr>
            <a:r>
              <a:rPr lang="fr" sz="12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Automatisation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1131570" y="4272534"/>
            <a:ext cx="32232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Déploiement complet reproductible en une commande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732020" y="1200150"/>
            <a:ext cx="3977640" cy="3463290"/>
          </a:xfrm>
          <a:prstGeom prst="roundRect">
            <a:avLst>
              <a:gd name="adj" fmla="val 1584"/>
            </a:avLst>
          </a:prstGeom>
          <a:solidFill>
            <a:srgbClr val="1F3864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937760" y="1371600"/>
            <a:ext cx="3566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fr" sz="13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L'infrastructure en chiffres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4937760" y="1851660"/>
            <a:ext cx="178308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900"/>
              <a:buFont typeface="Cambria"/>
              <a:buNone/>
            </a:pPr>
            <a:r>
              <a:rPr lang="fr" sz="3900" b="1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77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937760" y="2523744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fr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ressources AWS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6892290" y="1851660"/>
            <a:ext cx="178308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900"/>
              <a:buFont typeface="Cambria"/>
              <a:buNone/>
            </a:pPr>
            <a:r>
              <a:rPr lang="fr" sz="3900" b="1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17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6892290" y="2523744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fr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modules Terraform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4937760" y="3120390"/>
            <a:ext cx="178308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900"/>
              <a:buFont typeface="Cambria"/>
              <a:buNone/>
            </a:pPr>
            <a:r>
              <a:rPr lang="fr" sz="3900" b="1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4937760" y="3792474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fr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zones de disponibilité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6892290" y="3120390"/>
            <a:ext cx="178308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900"/>
              <a:buFont typeface="Cambria"/>
              <a:buNone/>
            </a:pPr>
            <a:r>
              <a:rPr lang="fr" sz="3900" b="1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6892290" y="3792474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fr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seule commande de déploiement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/>
          <p:nvPr/>
        </p:nvSpPr>
        <p:spPr>
          <a:xfrm>
            <a:off x="411480" y="288036"/>
            <a:ext cx="5692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C77A"/>
              </a:buClr>
              <a:buSzPts val="2300"/>
              <a:buFont typeface="Cambria"/>
              <a:buNone/>
            </a:pPr>
            <a:r>
              <a:rPr lang="fr" sz="2300" b="1">
                <a:solidFill>
                  <a:srgbClr val="E8C77A"/>
                </a:solidFill>
                <a:latin typeface="Cambria"/>
                <a:ea typeface="Cambria"/>
                <a:cs typeface="Cambria"/>
                <a:sym typeface="Cambria"/>
              </a:rPr>
              <a:t>Le site PixelStore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25196" y="76809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Application Flask déployée - catalogue, authentification, panier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7" descr="/home/claude/hom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1200150"/>
            <a:ext cx="5074920" cy="2315714"/>
          </a:xfrm>
          <a:prstGeom prst="rect">
            <a:avLst/>
          </a:prstGeom>
          <a:noFill/>
          <a:ln>
            <a:noFill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</p:pic>
      <p:sp>
        <p:nvSpPr>
          <p:cNvPr id="111" name="Google Shape;111;p17"/>
          <p:cNvSpPr/>
          <p:nvPr/>
        </p:nvSpPr>
        <p:spPr>
          <a:xfrm>
            <a:off x="411480" y="3536438"/>
            <a:ext cx="507492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800"/>
              <a:buFont typeface="Calibri"/>
              <a:buNone/>
            </a:pPr>
            <a:r>
              <a:rPr lang="fr" sz="800" i="1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Page d'accueil - catalogue 9 modèles, 3 marques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7" descr="/home/claude/logi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850" y="1200150"/>
            <a:ext cx="3223260" cy="1574620"/>
          </a:xfrm>
          <a:prstGeom prst="rect">
            <a:avLst/>
          </a:prstGeom>
          <a:noFill/>
          <a:ln>
            <a:noFill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</p:pic>
      <p:pic>
        <p:nvPicPr>
          <p:cNvPr id="113" name="Google Shape;113;p17" descr="/home/claude/catalo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57850" y="2914650"/>
            <a:ext cx="1070365" cy="1508760"/>
          </a:xfrm>
          <a:prstGeom prst="rect">
            <a:avLst/>
          </a:prstGeom>
          <a:noFill/>
          <a:ln>
            <a:noFill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</p:pic>
      <p:sp>
        <p:nvSpPr>
          <p:cNvPr id="114" name="Google Shape;114;p17"/>
          <p:cNvSpPr/>
          <p:nvPr/>
        </p:nvSpPr>
        <p:spPr>
          <a:xfrm>
            <a:off x="6755130" y="3051810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C77A"/>
              </a:buClr>
              <a:buSzPts val="1000"/>
              <a:buFont typeface="Calibri"/>
              <a:buNone/>
            </a:pPr>
            <a:r>
              <a:rPr lang="fr" sz="1000" b="1">
                <a:solidFill>
                  <a:srgbClr val="E8C77A"/>
                </a:solidFill>
                <a:latin typeface="Calibri"/>
                <a:ea typeface="Calibri"/>
                <a:cs typeface="Calibri"/>
                <a:sym typeface="Calibri"/>
              </a:rPr>
              <a:t>Connexion &amp; inscription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800"/>
              <a:buFont typeface="Calibri"/>
              <a:buNone/>
            </a:pPr>
            <a:r>
              <a:rPr lang="fr" sz="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Sessions Flask signées, mots de passe bcrypt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/>
          <p:nvPr/>
        </p:nvSpPr>
        <p:spPr>
          <a:xfrm>
            <a:off x="411480" y="288036"/>
            <a:ext cx="5692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Font typeface="Cambria"/>
              <a:buNone/>
            </a:pPr>
            <a:r>
              <a:rPr lang="fr" sz="23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Architecture globale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425196" y="76809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VPC Multi-AZ - eu-west-3 (Paris) - conformité RGPD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6789420" y="240030"/>
            <a:ext cx="2023110" cy="4251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6789420" y="240030"/>
            <a:ext cx="2023110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Jimmy Barbier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8" descr="/home/claude/archi_cro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57315" y="1131570"/>
            <a:ext cx="4406510" cy="3223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411480" y="288036"/>
            <a:ext cx="5692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Font typeface="Cambria"/>
              <a:buNone/>
            </a:pPr>
            <a:r>
              <a:rPr lang="fr" sz="23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Défense en profondeur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425196" y="76809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Plusieurs couches indépendantes - aucun contrôle unique suffisant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6789420" y="240030"/>
            <a:ext cx="2023110" cy="4251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789420" y="240030"/>
            <a:ext cx="2023110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Jimmy Barbier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411480" y="1200150"/>
            <a:ext cx="4011930" cy="973836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603504" y="1488186"/>
            <a:ext cx="425196" cy="425196"/>
          </a:xfrm>
          <a:prstGeom prst="ellipse">
            <a:avLst/>
          </a:prstGeom>
          <a:solidFill>
            <a:srgbClr val="F4F8FB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374" y="15910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/>
          <p:nvPr/>
        </p:nvSpPr>
        <p:spPr>
          <a:xfrm>
            <a:off x="1165860" y="1337310"/>
            <a:ext cx="31203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Périmètre - Cloudflare + WAF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1165860" y="1611630"/>
            <a:ext cx="315468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TLS/HTTPS termine par Cloudflare en frontal, puis WAF AWS : Common Rule Set (OWASP), SQLi, RateLimit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629150" y="1200150"/>
            <a:ext cx="4011930" cy="973836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821174" y="1488186"/>
            <a:ext cx="425196" cy="425196"/>
          </a:xfrm>
          <a:prstGeom prst="ellipse">
            <a:avLst/>
          </a:prstGeom>
          <a:solidFill>
            <a:srgbClr val="F4F8FB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24044" y="15910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/>
          <p:nvPr/>
        </p:nvSpPr>
        <p:spPr>
          <a:xfrm>
            <a:off x="5383530" y="1337310"/>
            <a:ext cx="31203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Réseau - SG &amp; NACL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5383530" y="1611630"/>
            <a:ext cx="315468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SG en cascade ALB -&gt; EC2 -&gt; RDS, NACL stateless en complément au niveau subnet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411480" y="2311146"/>
            <a:ext cx="4011930" cy="973836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603504" y="2599182"/>
            <a:ext cx="425196" cy="425196"/>
          </a:xfrm>
          <a:prstGeom prst="ellipse">
            <a:avLst/>
          </a:prstGeom>
          <a:solidFill>
            <a:srgbClr val="F4F8FB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6374" y="27020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/>
          <p:nvPr/>
        </p:nvSpPr>
        <p:spPr>
          <a:xfrm>
            <a:off x="1165860" y="2448306"/>
            <a:ext cx="31203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Identité - IAM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1165860" y="2722626"/>
            <a:ext cx="315468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Rôle EC2 en moindre privilège, aucune clé stockée, accès via SSM (pas de SSH)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629150" y="2311146"/>
            <a:ext cx="4011930" cy="973836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4821174" y="2599182"/>
            <a:ext cx="425196" cy="425196"/>
          </a:xfrm>
          <a:prstGeom prst="ellipse">
            <a:avLst/>
          </a:prstGeom>
          <a:solidFill>
            <a:srgbClr val="F4F8FB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24044" y="27020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/>
          <p:nvPr/>
        </p:nvSpPr>
        <p:spPr>
          <a:xfrm>
            <a:off x="5383530" y="2448306"/>
            <a:ext cx="31203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Secrets - Secrets Manager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5383530" y="2722626"/>
            <a:ext cx="315468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Credentials RDS jamais en clair, récupérés à l'exécution via le SDK AWS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11480" y="3422142"/>
            <a:ext cx="4011930" cy="973836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603504" y="3710178"/>
            <a:ext cx="425196" cy="425196"/>
          </a:xfrm>
          <a:prstGeom prst="ellipse">
            <a:avLst/>
          </a:prstGeom>
          <a:solidFill>
            <a:srgbClr val="F4F8FB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6374" y="381304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/>
          <p:nvPr/>
        </p:nvSpPr>
        <p:spPr>
          <a:xfrm>
            <a:off x="1165860" y="3559302"/>
            <a:ext cx="31203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Détection - GuardDuty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1165860" y="3833622"/>
            <a:ext cx="315468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Analyse VPC Flow Logs, DNS et CloudTrail, alertes SNS sur findings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4629150" y="3422142"/>
            <a:ext cx="4011930" cy="973836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4821174" y="3710178"/>
            <a:ext cx="425196" cy="425196"/>
          </a:xfrm>
          <a:prstGeom prst="ellipse">
            <a:avLst/>
          </a:prstGeom>
          <a:solidFill>
            <a:srgbClr val="F4F8FB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24044" y="381304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5383530" y="3559302"/>
            <a:ext cx="31203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Données - RDS &amp; chiffrement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5383530" y="3833622"/>
            <a:ext cx="315468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Multi-AZ synchrone, snapshot complet toutes les 12 h + binlogs/PITR ~15 min, chiffrement AES256 au repos, TLS via Cloudflare en transit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/>
          <p:nvPr/>
        </p:nvSpPr>
        <p:spPr>
          <a:xfrm>
            <a:off x="411480" y="288036"/>
            <a:ext cx="5692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Font typeface="Cambria"/>
              <a:buNone/>
            </a:pPr>
            <a:r>
              <a:rPr lang="fr" sz="23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Le WAF en pratique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25196" y="76809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TLS assuré par Cloudflare en frontal, WAF AWS en couche complémentaire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6789420" y="240030"/>
            <a:ext cx="2023110" cy="4251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6789420" y="240030"/>
            <a:ext cx="2023110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Jimmy Barbier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11480" y="1234440"/>
            <a:ext cx="4114800" cy="3154680"/>
          </a:xfrm>
          <a:prstGeom prst="roundRect">
            <a:avLst>
              <a:gd name="adj" fmla="val 1739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651510" y="1474470"/>
            <a:ext cx="425196" cy="4251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380" y="15773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/>
          <p:nvPr/>
        </p:nvSpPr>
        <p:spPr>
          <a:xfrm>
            <a:off x="1200150" y="1508760"/>
            <a:ext cx="32232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mbria"/>
              <a:buNone/>
            </a:pPr>
            <a:r>
              <a:rPr lang="fr" sz="13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3 règles actives sur l'ALB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685800" y="2023110"/>
            <a:ext cx="3703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Calibri"/>
              <a:buChar char="•"/>
            </a:pP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Common Rule Set - attaques web courantes (OWASP Top 10)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80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Calibri"/>
              <a:buChar char="•"/>
            </a:pP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SQLi Rule Set - injections SQL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80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Calibri"/>
              <a:buChar char="•"/>
            </a:pP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RateLimit - blocage IP au-delà de 2000 requêtes / 5 min (anti-DDoS)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685800" y="3703320"/>
            <a:ext cx="36347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Calibri"/>
              <a:buNone/>
            </a:pPr>
            <a:r>
              <a:rPr lang="fr" sz="10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Résultat du test : </a:t>
            </a: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payloads canoniques et 4 variantes d'évasion tous bloqués en HTTP 403.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732020" y="1234440"/>
            <a:ext cx="3977640" cy="3154680"/>
          </a:xfrm>
          <a:prstGeom prst="roundRect">
            <a:avLst>
              <a:gd name="adj" fmla="val 1739"/>
            </a:avLst>
          </a:prstGeom>
          <a:solidFill>
            <a:srgbClr val="1F3864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72050" y="1508760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/>
          <p:nvPr/>
        </p:nvSpPr>
        <p:spPr>
          <a:xfrm>
            <a:off x="5452110" y="1508760"/>
            <a:ext cx="308610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fr" sz="1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 vraie protection est dans le 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972050" y="2023110"/>
            <a:ext cx="34975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fr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Les requêtes paramétrées PyMySQL neutralisent les injections SQL au niveau applicatif. Un guillemet simple ne produit aucune erreur. Le WAF vient en seconde ligne.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972050" y="3120390"/>
            <a:ext cx="353187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143500" y="3257550"/>
            <a:ext cx="318897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mbria"/>
              <a:buNone/>
            </a:pPr>
            <a:r>
              <a:rPr lang="fr" sz="1100" b="1" i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" Un WAF protège uniquement ce qu'il inspecte. Il ne remplace pas un code sécurisé. 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11480" y="288036"/>
            <a:ext cx="5692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Font typeface="Cambria"/>
              <a:buNone/>
            </a:pPr>
            <a:r>
              <a:rPr lang="fr" sz="23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Infrastructure as Code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425196" y="76809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Terraform - 17 modules - 77 ressources - un seul terraform apply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6789420" y="240030"/>
            <a:ext cx="2023110" cy="4251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6789420" y="240030"/>
            <a:ext cx="2023110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Jimmy Barbier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11480" y="1234440"/>
            <a:ext cx="4114800" cy="699516"/>
          </a:xfrm>
          <a:prstGeom prst="roundRect">
            <a:avLst>
              <a:gd name="adj" fmla="val 7843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617220" y="1330452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2E75B6"/>
                </a:solidFill>
                <a:latin typeface="Cambria"/>
                <a:ea typeface="Cambria"/>
                <a:cs typeface="Cambria"/>
                <a:sym typeface="Cambria"/>
              </a:rPr>
              <a:t>Déclaratif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617220" y="1577340"/>
            <a:ext cx="377190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On décrit l'état cible, Terraform calcule comment l'atteindre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411480" y="2043684"/>
            <a:ext cx="4114800" cy="699516"/>
          </a:xfrm>
          <a:prstGeom prst="roundRect">
            <a:avLst>
              <a:gd name="adj" fmla="val 7843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617220" y="2139696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2E75B6"/>
                </a:solidFill>
                <a:latin typeface="Cambria"/>
                <a:ea typeface="Cambria"/>
                <a:cs typeface="Cambria"/>
                <a:sym typeface="Cambria"/>
              </a:rPr>
              <a:t>Idempotent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617220" y="2386584"/>
            <a:ext cx="377190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Rejouer terraform apply produit le même résultat, sans drift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11480" y="2852928"/>
            <a:ext cx="4114800" cy="699516"/>
          </a:xfrm>
          <a:prstGeom prst="roundRect">
            <a:avLst>
              <a:gd name="adj" fmla="val 7843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617220" y="2948940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2E75B6"/>
                </a:solidFill>
                <a:latin typeface="Cambria"/>
                <a:ea typeface="Cambria"/>
                <a:cs typeface="Cambria"/>
                <a:sym typeface="Cambria"/>
              </a:rPr>
              <a:t>Versionné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617220" y="3195828"/>
            <a:ext cx="377190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Tout le code est sur GitHub : revue, audit, historique complet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411480" y="3662172"/>
            <a:ext cx="4114800" cy="699516"/>
          </a:xfrm>
          <a:prstGeom prst="roundRect">
            <a:avLst>
              <a:gd name="adj" fmla="val 7843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617220" y="3758184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2E75B6"/>
                </a:solidFill>
                <a:latin typeface="Cambria"/>
                <a:ea typeface="Cambria"/>
                <a:cs typeface="Cambria"/>
                <a:sym typeface="Cambria"/>
              </a:rPr>
              <a:t>Reproductible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617220" y="4005072"/>
            <a:ext cx="377190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Backend distant S3 + verrou DynamoDB pour le travail en équipe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732020" y="1234440"/>
            <a:ext cx="3977640" cy="2057400"/>
          </a:xfrm>
          <a:prstGeom prst="roundRect">
            <a:avLst>
              <a:gd name="adj" fmla="val 2000"/>
            </a:avLst>
          </a:prstGeom>
          <a:solidFill>
            <a:srgbClr val="1A2433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4869180" y="137160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033772" y="137160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5198364" y="137160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4903470" y="1680210"/>
            <a:ext cx="363474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urier New"/>
              <a:buNone/>
            </a:pPr>
            <a:r>
              <a:rPr lang="fr" sz="1000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$ terraform apply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lang="fr" sz="10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Plan: 77 to add, 0 to change, 0 to destroy.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lang="fr" sz="10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Apply complete! 77 resources added.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site opérationnel en 10 à 15 min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732020" y="3463290"/>
            <a:ext cx="397764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Calibri"/>
              <a:buNone/>
            </a:pPr>
            <a:r>
              <a:rPr lang="fr" sz="10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Couvert par les modules : </a:t>
            </a: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réseau, sécurité, identité &amp; secrets, compute, données, observabilité, stockage.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411480" y="288036"/>
            <a:ext cx="5692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Font typeface="Cambria"/>
              <a:buNone/>
            </a:pPr>
            <a:r>
              <a:rPr lang="fr" sz="23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Application &amp; haute disponibilité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425196" y="76809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Flask + RDS Multi-AZ + Auto Scaling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6789420" y="240030"/>
            <a:ext cx="2023110" cy="4251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6789420" y="240030"/>
            <a:ext cx="2023110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Matthieu Broquard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411480" y="1268730"/>
            <a:ext cx="4011930" cy="1405890"/>
          </a:xfrm>
          <a:prstGeom prst="roundRect">
            <a:avLst>
              <a:gd name="adj" fmla="val 3902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617220" y="1488186"/>
            <a:ext cx="425196" cy="4251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090" y="15910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/>
          <p:nvPr/>
        </p:nvSpPr>
        <p:spPr>
          <a:xfrm>
            <a:off x="1165860" y="1460754"/>
            <a:ext cx="308610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mbria"/>
              <a:buNone/>
            </a:pPr>
            <a:r>
              <a:rPr lang="fr" sz="12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Application Flask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651510" y="192024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4 pages (catalogue, détail, panier, authentification). Servie par Gunicorn (serveur de production). Mots de passe bcrypt, credentials via Secrets Manager.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4629150" y="1268730"/>
            <a:ext cx="4011930" cy="140589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4834890" y="1488186"/>
            <a:ext cx="425196" cy="4251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7760" y="15910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/>
          <p:nvPr/>
        </p:nvSpPr>
        <p:spPr>
          <a:xfrm>
            <a:off x="5383530" y="1460754"/>
            <a:ext cx="308610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mbria"/>
              <a:buNone/>
            </a:pPr>
            <a:r>
              <a:rPr lang="fr" sz="12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Auto Scaling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4869180" y="192024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Min 1 / Max 2 instances. Une 2e instance se lance automatiquement au-delà de 60% de CPU.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411480" y="2846070"/>
            <a:ext cx="4011930" cy="1405890"/>
          </a:xfrm>
          <a:prstGeom prst="roundRect">
            <a:avLst>
              <a:gd name="adj" fmla="val 3902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617220" y="3065526"/>
            <a:ext cx="425196" cy="4251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0090" y="316839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/>
          <p:nvPr/>
        </p:nvSpPr>
        <p:spPr>
          <a:xfrm>
            <a:off x="1165860" y="3038094"/>
            <a:ext cx="308610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mbria"/>
              <a:buNone/>
            </a:pPr>
            <a:r>
              <a:rPr lang="fr" sz="12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RDS Multi-AZ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51510" y="349758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Réplique synchrone en eu-west-3b. Bascule automatique en 1 à 2 min en cas de panne.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4629150" y="2846070"/>
            <a:ext cx="4011930" cy="140589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4834890" y="3065526"/>
            <a:ext cx="425196" cy="4251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37760" y="316839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/>
          <p:nvPr/>
        </p:nvSpPr>
        <p:spPr>
          <a:xfrm>
            <a:off x="5383530" y="3038094"/>
            <a:ext cx="308610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mbria"/>
              <a:buNone/>
            </a:pPr>
            <a:r>
              <a:rPr lang="fr" sz="12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Reprise (DR)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4869180" y="349758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RPO ~15 min (snapshot toutes les 12 h via AWS Backup + binlogs/PITR ~15 min), RTO ~15 min. Terraform recrée tout depuis le code.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/>
          <p:nvPr/>
        </p:nvSpPr>
        <p:spPr>
          <a:xfrm>
            <a:off x="411480" y="288036"/>
            <a:ext cx="5692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Font typeface="Cambria"/>
              <a:buNone/>
            </a:pPr>
            <a:r>
              <a:rPr lang="fr" sz="23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Coûts &amp; FinOps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425196" y="76809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AWS vs on-premise - tarification eu-west-3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6789420" y="240030"/>
            <a:ext cx="2023110" cy="4251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6789420" y="240030"/>
            <a:ext cx="2023110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Matthieu Broquard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411480" y="1234440"/>
            <a:ext cx="2606040" cy="1165860"/>
          </a:xfrm>
          <a:prstGeom prst="roundRect">
            <a:avLst>
              <a:gd name="adj" fmla="val 4706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548640" y="1337310"/>
            <a:ext cx="2331720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900"/>
              <a:buFont typeface="Cambria"/>
              <a:buNone/>
            </a:pPr>
            <a:r>
              <a:rPr lang="fr" sz="29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150 EUR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48640" y="1954530"/>
            <a:ext cx="23317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Calibri"/>
              <a:buNone/>
            </a:pP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par mois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3188970" y="1234440"/>
            <a:ext cx="2606040" cy="1165860"/>
          </a:xfrm>
          <a:prstGeom prst="roundRect">
            <a:avLst>
              <a:gd name="adj" fmla="val 4706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3326130" y="1337310"/>
            <a:ext cx="2331720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900"/>
              <a:buFont typeface="Cambria"/>
              <a:buNone/>
            </a:pPr>
            <a:r>
              <a:rPr lang="fr" sz="29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1 800 EUR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3326130" y="1954530"/>
            <a:ext cx="23317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Calibri"/>
              <a:buNone/>
            </a:pP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par an (On-Demand)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5966460" y="1234440"/>
            <a:ext cx="2606040" cy="1165860"/>
          </a:xfrm>
          <a:prstGeom prst="roundRect">
            <a:avLst>
              <a:gd name="adj" fmla="val 4706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6103620" y="1337310"/>
            <a:ext cx="2331720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900"/>
              <a:buFont typeface="Cambria"/>
              <a:buNone/>
            </a:pPr>
            <a:r>
              <a:rPr lang="fr" sz="29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~900 EUR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6103620" y="1954530"/>
            <a:ext cx="23317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Calibri"/>
              <a:buNone/>
            </a:pP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par an avec Savings Plans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411480" y="2640330"/>
            <a:ext cx="8298180" cy="2023110"/>
          </a:xfrm>
          <a:prstGeom prst="roundRect">
            <a:avLst>
              <a:gd name="adj" fmla="val 2712"/>
            </a:avLst>
          </a:prstGeom>
          <a:solidFill>
            <a:srgbClr val="1F3864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651510" y="2811780"/>
            <a:ext cx="4457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fr" sz="13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Économie première année vs on-premise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651510" y="3188970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300"/>
              <a:buFont typeface="Cambria"/>
              <a:buNone/>
            </a:pPr>
            <a:r>
              <a:rPr lang="fr" sz="3300" b="1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plus de 18 000 EUR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4937760" y="2880360"/>
            <a:ext cx="3566160" cy="157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Char char="•"/>
            </a:pPr>
            <a:r>
              <a:rPr lang="fr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année 1 : 1 800 EUR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Char char="•"/>
            </a:pPr>
            <a:r>
              <a:rPr lang="fr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On-premise année 1 : 20 420 EUR (CAPEX 11 600 + OPEX)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Char char="•"/>
            </a:pPr>
            <a:r>
              <a:rPr lang="fr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Aucun investissement initial, HA incluse, RGPD (Paris)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/>
          <p:nvPr/>
        </p:nvSpPr>
        <p:spPr>
          <a:xfrm>
            <a:off x="411480" y="288036"/>
            <a:ext cx="5692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Font typeface="Cambria"/>
              <a:buNone/>
            </a:pPr>
            <a:r>
              <a:rPr lang="fr" sz="23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Test d'intrusion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425196" y="76809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Boîte grise sur la surface web - 8 juin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6789420" y="240030"/>
            <a:ext cx="2023110" cy="4251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6789420" y="240030"/>
            <a:ext cx="2023110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Matthieu Broquard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411480" y="1234440"/>
            <a:ext cx="3840480" cy="3154680"/>
          </a:xfrm>
          <a:prstGeom prst="roundRect">
            <a:avLst>
              <a:gd name="adj" fmla="val 1739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510" y="144018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/>
          <p:nvPr/>
        </p:nvSpPr>
        <p:spPr>
          <a:xfrm>
            <a:off x="1097280" y="1453896"/>
            <a:ext cx="29489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mbria"/>
              <a:buNone/>
            </a:pPr>
            <a:r>
              <a:rPr lang="fr" sz="13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Méthodologie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685800" y="1920240"/>
            <a:ext cx="3429000" cy="23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Calibri"/>
              <a:buChar char="•"/>
            </a:pP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Reconnaissance (nmap, fingerprint Flask/Werkzeug)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Calibri"/>
              <a:buChar char="•"/>
            </a:pP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Identification du WAF (403, sqlmap)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Calibri"/>
              <a:buChar char="•"/>
            </a:pP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Tests d'injection SQL (connexion, filtre catalogue)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Calibri"/>
              <a:buChar char="•"/>
            </a:pP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Analyse authentification &amp; sessions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Calibri"/>
              <a:buChar char="•"/>
            </a:pP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Analyse de configuration (en-têtes, cookies, transport)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4457700" y="1234440"/>
            <a:ext cx="425196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7730" y="144018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/>
          <p:nvPr/>
        </p:nvSpPr>
        <p:spPr>
          <a:xfrm>
            <a:off x="5143500" y="1453896"/>
            <a:ext cx="3086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7A4B"/>
              </a:buClr>
              <a:buSzPts val="1300"/>
              <a:buFont typeface="Cambria"/>
              <a:buNone/>
            </a:pPr>
            <a:r>
              <a:rPr lang="fr" sz="1300" b="1">
                <a:solidFill>
                  <a:srgbClr val="2C7A4B"/>
                </a:solidFill>
                <a:latin typeface="Cambria"/>
                <a:ea typeface="Cambria"/>
                <a:cs typeface="Cambria"/>
                <a:sym typeface="Cambria"/>
              </a:rPr>
              <a:t>Ce qui résiste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4732020" y="1920240"/>
            <a:ext cx="3840480" cy="23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Calibri"/>
              <a:buChar char="•"/>
            </a:pP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Injection SQL neutralisée (requêtes paramétrées) sur connexion et catalogue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Calibri"/>
              <a:buChar char="•"/>
            </a:pP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WAF efficace : payloads + 4 évasions bloqués en 403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Calibri"/>
              <a:buChar char="•"/>
            </a:pP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Cookie HttpOnly présent (anti-vol XSS)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90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Calibri"/>
              <a:buChar char="•"/>
            </a:pPr>
            <a:r>
              <a:rPr lang="fr" sz="10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Validation côté serveur de la correspondance des mots de passe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/>
          <p:nvPr/>
        </p:nvSpPr>
        <p:spPr>
          <a:xfrm>
            <a:off x="411480" y="288036"/>
            <a:ext cx="5692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Font typeface="Cambria"/>
              <a:buNone/>
            </a:pPr>
            <a:r>
              <a:rPr lang="fr" sz="23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8 constats du pentest - tous corrigés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425196" y="76809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Toutes les vulnérabilités remédiées dans le code (+ 1 trouvée hors pentest)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6789420" y="240030"/>
            <a:ext cx="2023110" cy="4251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6789420" y="240030"/>
            <a:ext cx="2023110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Matthieu Broquard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9" name="Google Shape;289;p25"/>
          <p:cNvGraphicFramePr/>
          <p:nvPr/>
        </p:nvGraphicFramePr>
        <p:xfrm>
          <a:off x="411480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{044EEEB7-B280-42D1-B337-5FADD51D1949}</a:tableStyleId>
              </a:tblPr>
              <a:tblGrid>
                <a:gridCol w="54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mbria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ID</a:t>
                      </a:r>
                      <a:endParaRPr sz="9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mbria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Constat</a:t>
                      </a:r>
                      <a:endParaRPr sz="9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mbria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Statut</a:t>
                      </a:r>
                      <a:endParaRPr sz="9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Chiffrement TLS - HTTPS via Cloudflare + ALB restreint aux IP Cloudflare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Corrigé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C7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F2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Serveur de production Gunicorn (Werkzeug retiré)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Corrigé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7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F3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En-têtes de sécurité ajoutés (CSP, HSTS, X-Frame-Options, nosniff)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Corrigé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7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F4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Cookies de session Secure + SameSite + HttpOnly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Corrigé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7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F5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Énumération de comptes - message d'inscription générique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Corrigé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F6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Identité en cookie - signée par une SECRET_KEY forte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Corrigé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F7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Politique de mot de passe serveur (&gt;= 12 car. + complexité)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Corrigé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F8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SECRET_KEY forte 64 car. (Secrets Manager) - démarrage refusé sinon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Corrigé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90" name="Google Shape;290;p25"/>
          <p:cNvSpPr/>
          <p:nvPr/>
        </p:nvSpPr>
        <p:spPr>
          <a:xfrm>
            <a:off x="6377940" y="1200150"/>
            <a:ext cx="2331720" cy="3223260"/>
          </a:xfrm>
          <a:prstGeom prst="roundRect">
            <a:avLst>
              <a:gd name="adj" fmla="val 2353"/>
            </a:avLst>
          </a:prstGeom>
          <a:solidFill>
            <a:srgbClr val="1F3864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6549390" y="1371600"/>
            <a:ext cx="19888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lang="fr" sz="1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+ Hors pentest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6549390" y="1783080"/>
            <a:ext cx="202311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E2B0"/>
              </a:buClr>
              <a:buSzPts val="1000"/>
              <a:buFont typeface="Calibri"/>
              <a:buNone/>
            </a:pPr>
            <a:r>
              <a:rPr lang="fr" sz="1000" b="1">
                <a:solidFill>
                  <a:srgbClr val="9FE2B0"/>
                </a:solidFill>
                <a:latin typeface="Calibri"/>
                <a:ea typeface="Calibri"/>
                <a:cs typeface="Calibri"/>
                <a:sym typeface="Calibri"/>
              </a:rPr>
              <a:t>Open Redirect sur /cart/add corrigé (redirections internes uniquement).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fr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Durcissements : exécution non-root, CSP stricte, ALB restreint à Cloudflare.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fr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8/8 constats corrigés dans le code poussé sur GitHub.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/>
          <p:nvPr/>
        </p:nvSpPr>
        <p:spPr>
          <a:xfrm>
            <a:off x="411480" y="288036"/>
            <a:ext cx="5692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Font typeface="Cambria"/>
              <a:buNone/>
            </a:pPr>
            <a:r>
              <a:rPr lang="fr" sz="23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Axes d amélioration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425196" y="76809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Du laboratoire vers la production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6789420" y="240030"/>
            <a:ext cx="2023110" cy="42519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6789420" y="240030"/>
            <a:ext cx="2023110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Matthieu Broquard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411480" y="1268730"/>
            <a:ext cx="2640330" cy="14401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603504" y="1474470"/>
            <a:ext cx="425196" cy="425196"/>
          </a:xfrm>
          <a:prstGeom prst="ellipse">
            <a:avLst/>
          </a:prstGeom>
          <a:solidFill>
            <a:srgbClr val="F4F8FB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2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374" y="15773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6"/>
          <p:cNvSpPr/>
          <p:nvPr/>
        </p:nvSpPr>
        <p:spPr>
          <a:xfrm>
            <a:off x="603504" y="1988820"/>
            <a:ext cx="22631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TLS de bout en bout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603504" y="2263140"/>
            <a:ext cx="22974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800"/>
              <a:buFont typeface="Calibri"/>
              <a:buNone/>
            </a:pPr>
            <a:r>
              <a:rPr lang="fr" sz="8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Chiffrer aussi Cloudflare -&gt; ALB (certificat d'origine, Full Strict)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3209544" y="1268730"/>
            <a:ext cx="2640330" cy="14401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3401568" y="1474470"/>
            <a:ext cx="425196" cy="425196"/>
          </a:xfrm>
          <a:prstGeom prst="ellipse">
            <a:avLst/>
          </a:prstGeom>
          <a:solidFill>
            <a:srgbClr val="F4F8FB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2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04438" y="15773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6"/>
          <p:cNvSpPr/>
          <p:nvPr/>
        </p:nvSpPr>
        <p:spPr>
          <a:xfrm>
            <a:off x="3401568" y="1988820"/>
            <a:ext cx="22631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Gouvernance &amp; procédures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3401568" y="2263140"/>
            <a:ext cx="22974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800"/>
              <a:buFont typeface="Calibri"/>
              <a:buNone/>
            </a:pPr>
            <a:r>
              <a:rPr lang="fr" sz="8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Réponse à incident (RS) &amp; reprise (RC), registre RGPD Art.30, NDA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6007608" y="1268730"/>
            <a:ext cx="2640330" cy="14401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6199632" y="1474470"/>
            <a:ext cx="425196" cy="425196"/>
          </a:xfrm>
          <a:prstGeom prst="ellipse">
            <a:avLst/>
          </a:prstGeom>
          <a:solidFill>
            <a:srgbClr val="F4F8FB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2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2502" y="15773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6"/>
          <p:cNvSpPr/>
          <p:nvPr/>
        </p:nvSpPr>
        <p:spPr>
          <a:xfrm>
            <a:off x="6199632" y="1988820"/>
            <a:ext cx="22631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MFA sur le compte AWS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6199632" y="2263140"/>
            <a:ext cx="22974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800"/>
              <a:buFont typeface="Calibri"/>
              <a:buNone/>
            </a:pPr>
            <a:r>
              <a:rPr lang="fr" sz="8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Authentification multi-facteurs sur les accès console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411480" y="2880360"/>
            <a:ext cx="2640330" cy="1440180"/>
          </a:xfrm>
          <a:prstGeom prst="roundRect">
            <a:avLst>
              <a:gd name="adj" fmla="val 3810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603504" y="3086100"/>
            <a:ext cx="425196" cy="425196"/>
          </a:xfrm>
          <a:prstGeom prst="ellipse">
            <a:avLst/>
          </a:prstGeom>
          <a:solidFill>
            <a:srgbClr val="F4F8FB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2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6374" y="318897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6"/>
          <p:cNvSpPr/>
          <p:nvPr/>
        </p:nvSpPr>
        <p:spPr>
          <a:xfrm>
            <a:off x="603504" y="3600450"/>
            <a:ext cx="22631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Annuaire centralise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603504" y="3874770"/>
            <a:ext cx="22974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800"/>
              <a:buFont typeface="Calibri"/>
              <a:buNone/>
            </a:pPr>
            <a:r>
              <a:rPr lang="fr" sz="8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Intégration Samba AD / AWS Managed Microsoft AD pour les identités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3209544" y="2880360"/>
            <a:ext cx="2640330" cy="14401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3401568" y="3086100"/>
            <a:ext cx="425196" cy="425196"/>
          </a:xfrm>
          <a:prstGeom prst="ellipse">
            <a:avLst/>
          </a:prstGeom>
          <a:solidFill>
            <a:srgbClr val="F4F8FB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2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04438" y="318897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6"/>
          <p:cNvSpPr/>
          <p:nvPr/>
        </p:nvSpPr>
        <p:spPr>
          <a:xfrm>
            <a:off x="3401568" y="3600450"/>
            <a:ext cx="22631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Pipeline CI/CD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3401568" y="3874770"/>
            <a:ext cx="22974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800"/>
              <a:buFont typeface="Calibri"/>
              <a:buNone/>
            </a:pPr>
            <a:r>
              <a:rPr lang="fr" sz="8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Scan IaC (Checkov, tfsec) et déploiement automatisé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6007608" y="2880360"/>
            <a:ext cx="2640330" cy="14401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6199632" y="3086100"/>
            <a:ext cx="425196" cy="425196"/>
          </a:xfrm>
          <a:prstGeom prst="ellipse">
            <a:avLst/>
          </a:prstGeom>
          <a:solidFill>
            <a:srgbClr val="F4F8FB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2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02502" y="318897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/>
        </p:nvSpPr>
        <p:spPr>
          <a:xfrm>
            <a:off x="6199632" y="3600450"/>
            <a:ext cx="226314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RPO réduit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6199632" y="3874770"/>
            <a:ext cx="22974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800"/>
              <a:buFont typeface="Calibri"/>
              <a:buNone/>
            </a:pPr>
            <a:r>
              <a:rPr lang="fr" sz="8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Réplication RDS multi-région, snapshots S3 cross-region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"/>
          <p:cNvSpPr/>
          <p:nvPr/>
        </p:nvSpPr>
        <p:spPr>
          <a:xfrm>
            <a:off x="411480" y="288036"/>
            <a:ext cx="5692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Font typeface="Cambria"/>
              <a:buNone/>
            </a:pPr>
            <a:r>
              <a:rPr lang="fr" sz="23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Analyse GRC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425196" y="76809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Gouvernance, Risques &amp; Conformité - 3 référentiels croisés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6789420" y="240030"/>
            <a:ext cx="2023110" cy="4251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7"/>
          <p:cNvSpPr/>
          <p:nvPr/>
        </p:nvSpPr>
        <p:spPr>
          <a:xfrm>
            <a:off x="6789420" y="240030"/>
            <a:ext cx="2023110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Dorian Poncelet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7"/>
          <p:cNvSpPr/>
          <p:nvPr/>
        </p:nvSpPr>
        <p:spPr>
          <a:xfrm>
            <a:off x="411480" y="1200150"/>
            <a:ext cx="2606040" cy="1062990"/>
          </a:xfrm>
          <a:prstGeom prst="roundRect">
            <a:avLst>
              <a:gd name="adj" fmla="val 5161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7"/>
          <p:cNvSpPr/>
          <p:nvPr/>
        </p:nvSpPr>
        <p:spPr>
          <a:xfrm>
            <a:off x="603504" y="1337310"/>
            <a:ext cx="425196" cy="4251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2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374" y="144018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7"/>
          <p:cNvSpPr/>
          <p:nvPr/>
        </p:nvSpPr>
        <p:spPr>
          <a:xfrm>
            <a:off x="1131570" y="1316736"/>
            <a:ext cx="178308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ISO 27001:2022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603504" y="1748790"/>
            <a:ext cx="2263140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800"/>
              <a:buFont typeface="Calibri"/>
              <a:buNone/>
            </a:pPr>
            <a:r>
              <a:rPr lang="fr" sz="8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Gap analysis - 93 contrôles évalués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3188970" y="1200150"/>
            <a:ext cx="2606040" cy="1062990"/>
          </a:xfrm>
          <a:prstGeom prst="roundRect">
            <a:avLst>
              <a:gd name="adj" fmla="val 5161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3380994" y="1337310"/>
            <a:ext cx="425196" cy="4251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2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83864" y="144018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7"/>
          <p:cNvSpPr/>
          <p:nvPr/>
        </p:nvSpPr>
        <p:spPr>
          <a:xfrm>
            <a:off x="3909060" y="1316736"/>
            <a:ext cx="178308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NIST CSF 2.0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3380994" y="1748790"/>
            <a:ext cx="2263140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800"/>
              <a:buFont typeface="Calibri"/>
              <a:buNone/>
            </a:pPr>
            <a:r>
              <a:rPr lang="fr" sz="8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Maturité par fonction - 77 sous-catégories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7"/>
          <p:cNvSpPr/>
          <p:nvPr/>
        </p:nvSpPr>
        <p:spPr>
          <a:xfrm>
            <a:off x="5966460" y="1200150"/>
            <a:ext cx="2606040" cy="1062990"/>
          </a:xfrm>
          <a:prstGeom prst="roundRect">
            <a:avLst>
              <a:gd name="adj" fmla="val 5161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6158484" y="1337310"/>
            <a:ext cx="425196" cy="4251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2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1354" y="144018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7"/>
          <p:cNvSpPr/>
          <p:nvPr/>
        </p:nvSpPr>
        <p:spPr>
          <a:xfrm>
            <a:off x="6686550" y="1316736"/>
            <a:ext cx="178308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FAIR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6158484" y="1748790"/>
            <a:ext cx="2263140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800"/>
              <a:buFont typeface="Calibri"/>
              <a:buNone/>
            </a:pPr>
            <a:r>
              <a:rPr lang="fr" sz="8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Risque chiffré - Monte Carlo 10 000 itérations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6" name="Google Shape;356;p27"/>
          <p:cNvGraphicFramePr/>
          <p:nvPr/>
        </p:nvGraphicFramePr>
        <p:xfrm>
          <a:off x="411480" y="2400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{044EEEB7-B280-42D1-B337-5FADD51D1949}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lang="fr" sz="1000" b="1" u="none" strike="noStrike" cap="non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Referentiel</a:t>
                      </a:r>
                      <a:endParaRPr sz="1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lang="fr" sz="1000" b="1" u="none" strike="noStrike" cap="non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Score actuel</a:t>
                      </a:r>
                      <a:endParaRPr sz="1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lang="fr" sz="1000" b="1" u="none" strike="noStrike" cap="non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Cible</a:t>
                      </a:r>
                      <a:endParaRPr sz="1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lang="fr" sz="1000" b="1" u="none" strike="noStrike" cap="non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Verdict</a:t>
                      </a:r>
                      <a:endParaRPr sz="1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b="1" u="none" strike="noStrike" cap="non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ISO 27001:2022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1,72 / 5  (28%)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4,0 / 5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Programme 12-18 mois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7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b="1" u="none" strike="noStrike" cap="non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NIST CSF 2.0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Tier 1  (0,69 / 4)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Tier 3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Actions immédiates RS/RC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b="1" u="none" strike="noStrike" cap="non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FAIR (ALE/an)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192k -&gt; ~17k EUR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30 000 EUR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F1+F8 corrigés : -175 k€/an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C7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b="1" u="none" strike="noStrike" cap="non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RGPD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 conforme Art.30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Registre + DPO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Registre à créer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7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7" name="Google Shape;357;p27"/>
          <p:cNvSpPr/>
          <p:nvPr/>
        </p:nvSpPr>
        <p:spPr>
          <a:xfrm>
            <a:off x="411480" y="4491990"/>
            <a:ext cx="82981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00"/>
              <a:buFont typeface="Calibri"/>
              <a:buNone/>
            </a:pPr>
            <a:r>
              <a:rPr lang="fr" sz="900" i="1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Base technique solide ; les écarts se concentrent sur la gouvernance organisationnelle et les procédures de réponse / reprise.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/>
          <p:cNvSpPr/>
          <p:nvPr/>
        </p:nvSpPr>
        <p:spPr>
          <a:xfrm>
            <a:off x="411480" y="288036"/>
            <a:ext cx="5692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Font typeface="Cambria"/>
              <a:buNone/>
            </a:pPr>
            <a:r>
              <a:rPr lang="fr" sz="23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Exposition financière (FAIR)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8"/>
          <p:cNvSpPr/>
          <p:nvPr/>
        </p:nvSpPr>
        <p:spPr>
          <a:xfrm>
            <a:off x="425196" y="76809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Quantification du risque en euros - référence P90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8"/>
          <p:cNvSpPr/>
          <p:nvPr/>
        </p:nvSpPr>
        <p:spPr>
          <a:xfrm>
            <a:off x="6789420" y="240030"/>
            <a:ext cx="2023110" cy="4251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8"/>
          <p:cNvSpPr/>
          <p:nvPr/>
        </p:nvSpPr>
        <p:spPr>
          <a:xfrm>
            <a:off x="6789420" y="240030"/>
            <a:ext cx="2023110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Dorian Poncelet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/>
          <p:nvPr/>
        </p:nvSpPr>
        <p:spPr>
          <a:xfrm>
            <a:off x="411480" y="1234440"/>
            <a:ext cx="3771900" cy="1405890"/>
          </a:xfrm>
          <a:prstGeom prst="roundRect">
            <a:avLst>
              <a:gd name="adj" fmla="val 3902"/>
            </a:avLst>
          </a:prstGeom>
          <a:solidFill>
            <a:srgbClr val="F4F8FB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8"/>
          <p:cNvSpPr/>
          <p:nvPr/>
        </p:nvSpPr>
        <p:spPr>
          <a:xfrm>
            <a:off x="617220" y="1371600"/>
            <a:ext cx="33604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Avant remédiation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617220" y="1645920"/>
            <a:ext cx="336042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3000"/>
              <a:buFont typeface="Cambria"/>
              <a:buNone/>
            </a:pPr>
            <a:r>
              <a:rPr lang="fr" sz="3000" b="1" strike="sngStrike">
                <a:solidFill>
                  <a:srgbClr val="808080"/>
                </a:solidFill>
                <a:latin typeface="Cambria"/>
                <a:ea typeface="Cambria"/>
                <a:cs typeface="Cambria"/>
                <a:sym typeface="Cambria"/>
              </a:rPr>
              <a:t>~192 000 EUR/an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8"/>
          <p:cNvSpPr/>
          <p:nvPr/>
        </p:nvSpPr>
        <p:spPr>
          <a:xfrm>
            <a:off x="617220" y="2297430"/>
            <a:ext cx="33604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dont 145 k€ (F1 HTTP) + 30 k€ (F8 SECRET_KEY)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8"/>
          <p:cNvSpPr/>
          <p:nvPr/>
        </p:nvSpPr>
        <p:spPr>
          <a:xfrm>
            <a:off x="411480" y="2777490"/>
            <a:ext cx="3771900" cy="1611630"/>
          </a:xfrm>
          <a:prstGeom prst="roundRect">
            <a:avLst>
              <a:gd name="adj" fmla="val 3404"/>
            </a:avLst>
          </a:prstGeom>
          <a:solidFill>
            <a:srgbClr val="1F3864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2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220" y="294894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8"/>
          <p:cNvSpPr/>
          <p:nvPr/>
        </p:nvSpPr>
        <p:spPr>
          <a:xfrm>
            <a:off x="1062990" y="2962656"/>
            <a:ext cx="301752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mbria"/>
              <a:buNone/>
            </a:pPr>
            <a:r>
              <a:rPr lang="fr" sz="1100" b="1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Après corrections (F1 TLS + F8 SECRET_KEY)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617220" y="3326130"/>
            <a:ext cx="336042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fr" sz="3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~17 000 EUR/an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617220" y="3977640"/>
            <a:ext cx="342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fr" sz="1000" b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-175 000 €/an d'exposition supprimée (F1 + F8)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6" name="Google Shape;376;p28"/>
          <p:cNvGraphicFramePr/>
          <p:nvPr/>
        </p:nvGraphicFramePr>
        <p:xfrm>
          <a:off x="438912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{044EEEB7-B280-42D1-B337-5FADD51D1949}</a:tableStyleId>
              </a:tblPr>
              <a:tblGrid>
                <a:gridCol w="226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mbria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Scenario</a:t>
                      </a:r>
                      <a:endParaRPr sz="9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mbria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ALE moyen</a:t>
                      </a:r>
                      <a:endParaRPr sz="9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mbria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P90</a:t>
                      </a:r>
                      <a:endParaRPr sz="9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7A4B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2C7A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F1 - HTTP en clair -&gt; CORRIGE (Cloudflare)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7A4B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2C7A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EUR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7A4B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u="none" strike="noStrike" cap="none">
                          <a:solidFill>
                            <a:srgbClr val="2C7A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EUR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F8 - SECRET_KEY -&gt; CORRIGÉ (clé forte)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EUR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EUR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RGPD - Fuite BDD (notification CNIL)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17 000 EUR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3B3B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u="none" strike="noStrike" cap="none">
                          <a:solidFill>
                            <a:srgbClr val="3B3B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33 700 EUR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residuel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~17 000 EUR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~34 000 EUR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150" marR="57150" marT="28575" marB="28575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7" name="Google Shape;377;p28"/>
          <p:cNvSpPr/>
          <p:nvPr/>
        </p:nvSpPr>
        <p:spPr>
          <a:xfrm>
            <a:off x="4389120" y="3429000"/>
            <a:ext cx="432054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00"/>
              <a:buFont typeface="Calibri"/>
              <a:buNone/>
            </a:pPr>
            <a:r>
              <a:rPr lang="fr" sz="900" i="1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FAIR : ALE = fréquence x impact, simulé 10 000 fois (Monte Carlo). P90 = la perte annuelle reste sous ce seuil dans 90% des cas - référence pour dimensionner le budget de défense.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9"/>
          <p:cNvSpPr/>
          <p:nvPr/>
        </p:nvSpPr>
        <p:spPr>
          <a:xfrm>
            <a:off x="411480" y="288036"/>
            <a:ext cx="56921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Font typeface="Cambria"/>
              <a:buNone/>
            </a:pPr>
            <a:r>
              <a:rPr lang="fr" sz="2300" b="1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Plan de traitement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9"/>
          <p:cNvSpPr/>
          <p:nvPr/>
        </p:nvSpPr>
        <p:spPr>
          <a:xfrm>
            <a:off x="425196" y="76809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lang="fr" sz="1100" i="1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Proposé par impact financier et facilité de mise en oeuvre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9"/>
          <p:cNvSpPr/>
          <p:nvPr/>
        </p:nvSpPr>
        <p:spPr>
          <a:xfrm>
            <a:off x="6789420" y="240030"/>
            <a:ext cx="2023110" cy="4251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9"/>
          <p:cNvSpPr/>
          <p:nvPr/>
        </p:nvSpPr>
        <p:spPr>
          <a:xfrm>
            <a:off x="6789420" y="240030"/>
            <a:ext cx="2023110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Dorian Poncelet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9"/>
          <p:cNvSpPr/>
          <p:nvPr/>
        </p:nvSpPr>
        <p:spPr>
          <a:xfrm>
            <a:off x="411480" y="1234440"/>
            <a:ext cx="2640330" cy="32232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9"/>
          <p:cNvSpPr/>
          <p:nvPr/>
        </p:nvSpPr>
        <p:spPr>
          <a:xfrm>
            <a:off x="411480" y="1234440"/>
            <a:ext cx="2640330" cy="651510"/>
          </a:xfrm>
          <a:prstGeom prst="roundRect">
            <a:avLst>
              <a:gd name="adj" fmla="val 8421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9"/>
          <p:cNvSpPr/>
          <p:nvPr/>
        </p:nvSpPr>
        <p:spPr>
          <a:xfrm>
            <a:off x="411480" y="1611630"/>
            <a:ext cx="264033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9"/>
          <p:cNvSpPr/>
          <p:nvPr/>
        </p:nvSpPr>
        <p:spPr>
          <a:xfrm>
            <a:off x="582930" y="1303020"/>
            <a:ext cx="6858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lang="fr" sz="2300" b="1" dirty="0">
                <a:solidFill>
                  <a:srgbClr val="FFFFFF"/>
                </a:solidFill>
                <a:latin typeface="Cambria"/>
                <a:ea typeface="Cambria"/>
                <a:cs typeface="Calibri"/>
                <a:sym typeface="Cambria"/>
              </a:rPr>
              <a:t>P1</a:t>
            </a:r>
            <a:endParaRPr sz="2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1200150" y="1303020"/>
            <a:ext cx="178308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fr" sz="1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Réalisé - durcissement code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9"/>
          <p:cNvSpPr/>
          <p:nvPr/>
        </p:nvSpPr>
        <p:spPr>
          <a:xfrm>
            <a:off x="603504" y="2057400"/>
            <a:ext cx="2297430" cy="2297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Char char="•"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TLS/HTTPS : fait (Cloudflare)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8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Char char="•"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SECRET_KEY forte : fait (Secrets Manager)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8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Char char="•"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En-têtes de sécurité HTTP : fait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8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Char char="•"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Cookies durcis + politique de mot de passe : fait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9"/>
          <p:cNvSpPr/>
          <p:nvPr/>
        </p:nvSpPr>
        <p:spPr>
          <a:xfrm>
            <a:off x="3209544" y="1234440"/>
            <a:ext cx="2640330" cy="32232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9"/>
          <p:cNvSpPr/>
          <p:nvPr/>
        </p:nvSpPr>
        <p:spPr>
          <a:xfrm>
            <a:off x="3209544" y="1234440"/>
            <a:ext cx="2640330" cy="651510"/>
          </a:xfrm>
          <a:prstGeom prst="roundRect">
            <a:avLst>
              <a:gd name="adj" fmla="val 8421"/>
            </a:avLst>
          </a:prstGeom>
          <a:solidFill>
            <a:srgbClr val="E07B0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9"/>
          <p:cNvSpPr/>
          <p:nvPr/>
        </p:nvSpPr>
        <p:spPr>
          <a:xfrm>
            <a:off x="3209544" y="1611630"/>
            <a:ext cx="2640330" cy="274320"/>
          </a:xfrm>
          <a:prstGeom prst="rect">
            <a:avLst/>
          </a:prstGeom>
          <a:solidFill>
            <a:srgbClr val="E07B0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3380994" y="1303020"/>
            <a:ext cx="6858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lang="fr" sz="23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P2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9"/>
          <p:cNvSpPr/>
          <p:nvPr/>
        </p:nvSpPr>
        <p:spPr>
          <a:xfrm>
            <a:off x="3998214" y="1303020"/>
            <a:ext cx="178308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fr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Court terme (&lt; 1 mois)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9"/>
          <p:cNvSpPr/>
          <p:nvPr/>
        </p:nvSpPr>
        <p:spPr>
          <a:xfrm>
            <a:off x="3401568" y="2057400"/>
            <a:ext cx="2297430" cy="2297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Char char="•"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Politique de réponse aux incidents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8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Char char="•"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Registre des traitements RGPD (Art.30)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8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Char char="•"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Engagements de confidentialité (NDA)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8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Char char="•"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Test de restauration RDS snapshot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9"/>
          <p:cNvSpPr/>
          <p:nvPr/>
        </p:nvSpPr>
        <p:spPr>
          <a:xfrm>
            <a:off x="6007608" y="1234440"/>
            <a:ext cx="2640330" cy="32232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78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9"/>
          <p:cNvSpPr/>
          <p:nvPr/>
        </p:nvSpPr>
        <p:spPr>
          <a:xfrm>
            <a:off x="6007608" y="1234440"/>
            <a:ext cx="2640330" cy="651510"/>
          </a:xfrm>
          <a:prstGeom prst="roundRect">
            <a:avLst>
              <a:gd name="adj" fmla="val 8421"/>
            </a:avLst>
          </a:prstGeom>
          <a:solidFill>
            <a:srgbClr val="2E75B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9"/>
          <p:cNvSpPr/>
          <p:nvPr/>
        </p:nvSpPr>
        <p:spPr>
          <a:xfrm>
            <a:off x="6007608" y="1611630"/>
            <a:ext cx="264033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9"/>
          <p:cNvSpPr/>
          <p:nvPr/>
        </p:nvSpPr>
        <p:spPr>
          <a:xfrm>
            <a:off x="6179058" y="1303020"/>
            <a:ext cx="6858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lang="fr" sz="23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P3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9"/>
          <p:cNvSpPr/>
          <p:nvPr/>
        </p:nvSpPr>
        <p:spPr>
          <a:xfrm>
            <a:off x="6796278" y="1303020"/>
            <a:ext cx="178308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fr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Moyen terme (1-6 mois)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9"/>
          <p:cNvSpPr/>
          <p:nvPr/>
        </p:nvSpPr>
        <p:spPr>
          <a:xfrm>
            <a:off x="6199632" y="2057400"/>
            <a:ext cx="2297430" cy="2297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Char char="•"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Séparation dev / test / prod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8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Char char="•"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Inventaire et classification des actifs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800"/>
              </a:spcBef>
              <a:spcAft>
                <a:spcPts val="0"/>
              </a:spcAft>
              <a:buClr>
                <a:srgbClr val="3B3B3B"/>
              </a:buClr>
              <a:buSzPts val="900"/>
              <a:buFont typeface="Calibri"/>
              <a:buChar char="•"/>
            </a:pPr>
            <a:r>
              <a:rPr lang="fr" sz="900">
                <a:solidFill>
                  <a:srgbClr val="3B3B3B"/>
                </a:solidFill>
                <a:latin typeface="Calibri"/>
                <a:ea typeface="Calibri"/>
                <a:cs typeface="Calibri"/>
                <a:sym typeface="Calibri"/>
              </a:rPr>
              <a:t>Plan de continuité documenté (PCA/PRI)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0"/>
          <p:cNvSpPr/>
          <p:nvPr/>
        </p:nvSpPr>
        <p:spPr>
          <a:xfrm>
            <a:off x="-1028700" y="-1097280"/>
            <a:ext cx="2948940" cy="2948940"/>
          </a:xfrm>
          <a:prstGeom prst="ellipse">
            <a:avLst/>
          </a:prstGeom>
          <a:solidFill>
            <a:srgbClr val="2E75B6">
              <a:alpha val="25882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0"/>
          <p:cNvSpPr/>
          <p:nvPr/>
        </p:nvSpPr>
        <p:spPr>
          <a:xfrm>
            <a:off x="7543800" y="3291840"/>
            <a:ext cx="2743200" cy="2743200"/>
          </a:xfrm>
          <a:prstGeom prst="ellipse">
            <a:avLst/>
          </a:prstGeom>
          <a:solidFill>
            <a:srgbClr val="2E75B6">
              <a:alpha val="21960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0"/>
          <p:cNvSpPr/>
          <p:nvPr/>
        </p:nvSpPr>
        <p:spPr>
          <a:xfrm>
            <a:off x="617220" y="68580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Cambria"/>
              <a:buNone/>
            </a:pPr>
            <a:r>
              <a:rPr lang="fr" sz="29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 résumé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220" y="1508760"/>
            <a:ext cx="308610" cy="30861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0"/>
          <p:cNvSpPr/>
          <p:nvPr/>
        </p:nvSpPr>
        <p:spPr>
          <a:xfrm>
            <a:off x="1062990" y="1440180"/>
            <a:ext cx="36347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mbria"/>
              <a:buNone/>
            </a:pPr>
            <a:r>
              <a:rPr lang="fr" sz="1300" b="1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Une infra de niveau production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0"/>
          <p:cNvSpPr/>
          <p:nvPr/>
        </p:nvSpPr>
        <p:spPr>
          <a:xfrm>
            <a:off x="1062990" y="1783080"/>
            <a:ext cx="36347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77 ressources, 17 modules, déployées en une commande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6" name="Google Shape;416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0600" y="1508760"/>
            <a:ext cx="308610" cy="30861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0"/>
          <p:cNvSpPr/>
          <p:nvPr/>
        </p:nvSpPr>
        <p:spPr>
          <a:xfrm>
            <a:off x="5246370" y="1440180"/>
            <a:ext cx="36347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mbria"/>
              <a:buNone/>
            </a:pPr>
            <a:r>
              <a:rPr lang="fr" sz="1300" b="1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Sécurisée par conception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5246370" y="1783080"/>
            <a:ext cx="36347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Défense en profondeur 7 couches - pentest puis vulnérabilités corrigées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9" name="Google Shape;419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220" y="2674620"/>
            <a:ext cx="308610" cy="30861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0"/>
          <p:cNvSpPr/>
          <p:nvPr/>
        </p:nvSpPr>
        <p:spPr>
          <a:xfrm>
            <a:off x="1062990" y="2606040"/>
            <a:ext cx="36347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mbria"/>
              <a:buNone/>
            </a:pPr>
            <a:r>
              <a:rPr lang="fr" sz="1300" b="1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Risque maîtrisé et chiffré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0"/>
          <p:cNvSpPr/>
          <p:nvPr/>
        </p:nvSpPr>
        <p:spPr>
          <a:xfrm>
            <a:off x="1062990" y="2948940"/>
            <a:ext cx="36347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Analyse GRC (ISO, NIST, FAIR) et feuille de route priorisée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0600" y="2674620"/>
            <a:ext cx="308610" cy="30861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5246370" y="2606040"/>
            <a:ext cx="36347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mbria"/>
              <a:buNone/>
            </a:pPr>
            <a:r>
              <a:rPr lang="fr" sz="1300" b="1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Conforme et reproductible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0"/>
          <p:cNvSpPr/>
          <p:nvPr/>
        </p:nvSpPr>
        <p:spPr>
          <a:xfrm>
            <a:off x="5246370" y="2948940"/>
            <a:ext cx="36347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RGPD (Paris), code versionné, reprise via Terraform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0"/>
          <p:cNvSpPr/>
          <p:nvPr/>
        </p:nvSpPr>
        <p:spPr>
          <a:xfrm>
            <a:off x="617220" y="4389120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fr" sz="17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Merci - questions 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2957</Words>
  <Application>Microsoft Office PowerPoint</Application>
  <PresentationFormat>Affichage à l'écran (16:9)</PresentationFormat>
  <Paragraphs>280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Simple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Dow 08</cp:lastModifiedBy>
  <cp:revision>1</cp:revision>
  <dcterms:modified xsi:type="dcterms:W3CDTF">2026-06-15T10:32:38Z</dcterms:modified>
</cp:coreProperties>
</file>